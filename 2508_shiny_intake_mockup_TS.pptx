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3" r:id="rId2"/>
    <p:sldId id="257" r:id="rId3"/>
    <p:sldId id="265" r:id="rId4"/>
    <p:sldId id="258" r:id="rId5"/>
    <p:sldId id="256" r:id="rId6"/>
    <p:sldId id="259" r:id="rId7"/>
    <p:sldId id="260" r:id="rId8"/>
    <p:sldId id="262" r:id="rId9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99BBB-6C65-B4AE-C44F-078E36F528D8}" v="148" dt="2025-09-26T19:26:00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6247" autoAdjust="0"/>
  </p:normalViewPr>
  <p:slideViewPr>
    <p:cSldViewPr snapToGrid="0">
      <p:cViewPr>
        <p:scale>
          <a:sx n="100" d="100"/>
          <a:sy n="100" d="100"/>
        </p:scale>
        <p:origin x="2670" y="-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a, Tanvi (HC/SC)" userId="S::tanvi.sharma@hc-sc.gc.ca::66497808-b5da-4335-8504-be1640578c13" providerId="AD" clId="Web-{31099BBB-6C65-B4AE-C44F-078E36F528D8}"/>
    <pc:docChg chg="modSld">
      <pc:chgData name="Sharma, Tanvi (HC/SC)" userId="S::tanvi.sharma@hc-sc.gc.ca::66497808-b5da-4335-8504-be1640578c13" providerId="AD" clId="Web-{31099BBB-6C65-B4AE-C44F-078E36F528D8}" dt="2025-09-26T19:25:59.427" v="116"/>
      <pc:docMkLst>
        <pc:docMk/>
      </pc:docMkLst>
      <pc:sldChg chg="modSp">
        <pc:chgData name="Sharma, Tanvi (HC/SC)" userId="S::tanvi.sharma@hc-sc.gc.ca::66497808-b5da-4335-8504-be1640578c13" providerId="AD" clId="Web-{31099BBB-6C65-B4AE-C44F-078E36F528D8}" dt="2025-09-26T19:25:59.427" v="116"/>
        <pc:sldMkLst>
          <pc:docMk/>
          <pc:sldMk cId="2716043986" sldId="258"/>
        </pc:sldMkLst>
        <pc:spChg chg="mod">
          <ac:chgData name="Sharma, Tanvi (HC/SC)" userId="S::tanvi.sharma@hc-sc.gc.ca::66497808-b5da-4335-8504-be1640578c13" providerId="AD" clId="Web-{31099BBB-6C65-B4AE-C44F-078E36F528D8}" dt="2025-09-26T18:27:57.964" v="67" actId="1076"/>
          <ac:spMkLst>
            <pc:docMk/>
            <pc:sldMk cId="2716043986" sldId="258"/>
            <ac:spMk id="6" creationId="{B0844C19-6247-E7C0-5A70-A2E7781A4802}"/>
          </ac:spMkLst>
        </pc:spChg>
        <pc:graphicFrameChg chg="mod modGraphic">
          <ac:chgData name="Sharma, Tanvi (HC/SC)" userId="S::tanvi.sharma@hc-sc.gc.ca::66497808-b5da-4335-8504-be1640578c13" providerId="AD" clId="Web-{31099BBB-6C65-B4AE-C44F-078E36F528D8}" dt="2025-09-26T19:25:59.427" v="116"/>
          <ac:graphicFrameMkLst>
            <pc:docMk/>
            <pc:sldMk cId="2716043986" sldId="258"/>
            <ac:graphicFrameMk id="5" creationId="{F44EB859-3A68-6A8A-AFAE-D169817874FB}"/>
          </ac:graphicFrameMkLst>
        </pc:graphicFrameChg>
      </pc:sldChg>
      <pc:sldChg chg="modSp">
        <pc:chgData name="Sharma, Tanvi (HC/SC)" userId="S::tanvi.sharma@hc-sc.gc.ca::66497808-b5da-4335-8504-be1640578c13" providerId="AD" clId="Web-{31099BBB-6C65-B4AE-C44F-078E36F528D8}" dt="2025-09-26T18:55:22.739" v="114" actId="20577"/>
        <pc:sldMkLst>
          <pc:docMk/>
          <pc:sldMk cId="4036625017" sldId="260"/>
        </pc:sldMkLst>
        <pc:spChg chg="mod">
          <ac:chgData name="Sharma, Tanvi (HC/SC)" userId="S::tanvi.sharma@hc-sc.gc.ca::66497808-b5da-4335-8504-be1640578c13" providerId="AD" clId="Web-{31099BBB-6C65-B4AE-C44F-078E36F528D8}" dt="2025-09-26T18:55:22.739" v="114" actId="20577"/>
          <ac:spMkLst>
            <pc:docMk/>
            <pc:sldMk cId="4036625017" sldId="260"/>
            <ac:spMk id="2" creationId="{C208AA88-5881-E20F-E18A-10A81BFFE1E4}"/>
          </ac:spMkLst>
        </pc:spChg>
      </pc:sldChg>
      <pc:sldChg chg="modSp">
        <pc:chgData name="Sharma, Tanvi (HC/SC)" userId="S::tanvi.sharma@hc-sc.gc.ca::66497808-b5da-4335-8504-be1640578c13" providerId="AD" clId="Web-{31099BBB-6C65-B4AE-C44F-078E36F528D8}" dt="2025-09-26T18:16:43.465" v="0" actId="20577"/>
        <pc:sldMkLst>
          <pc:docMk/>
          <pc:sldMk cId="3591981029" sldId="263"/>
        </pc:sldMkLst>
        <pc:spChg chg="mod">
          <ac:chgData name="Sharma, Tanvi (HC/SC)" userId="S::tanvi.sharma@hc-sc.gc.ca::66497808-b5da-4335-8504-be1640578c13" providerId="AD" clId="Web-{31099BBB-6C65-B4AE-C44F-078E36F528D8}" dt="2025-09-26T18:16:43.465" v="0" actId="20577"/>
          <ac:spMkLst>
            <pc:docMk/>
            <pc:sldMk cId="3591981029" sldId="263"/>
            <ac:spMk id="13" creationId="{70C7F368-4617-BA97-87C9-5BE06CF6947D}"/>
          </ac:spMkLst>
        </pc:spChg>
      </pc:sldChg>
    </pc:docChg>
  </pc:docChgLst>
  <pc:docChgLst>
    <pc:chgData clId="Web-{31099BBB-6C65-B4AE-C44F-078E36F528D8}"/>
    <pc:docChg chg="modSld">
      <pc:chgData name="" userId="" providerId="" clId="Web-{31099BBB-6C65-B4AE-C44F-078E36F528D8}" dt="2025-09-26T18:16:14.652" v="0" actId="20577"/>
      <pc:docMkLst>
        <pc:docMk/>
      </pc:docMkLst>
      <pc:sldChg chg="modSp">
        <pc:chgData name="" userId="" providerId="" clId="Web-{31099BBB-6C65-B4AE-C44F-078E36F528D8}" dt="2025-09-26T18:16:14.652" v="0" actId="20577"/>
        <pc:sldMkLst>
          <pc:docMk/>
          <pc:sldMk cId="3591981029" sldId="263"/>
        </pc:sldMkLst>
        <pc:spChg chg="mod">
          <ac:chgData name="" userId="" providerId="" clId="Web-{31099BBB-6C65-B4AE-C44F-078E36F528D8}" dt="2025-09-26T18:16:14.652" v="0" actId="20577"/>
          <ac:spMkLst>
            <pc:docMk/>
            <pc:sldMk cId="3591981029" sldId="263"/>
            <ac:spMk id="13" creationId="{70C7F368-4617-BA97-87C9-5BE06CF694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C5058-09C9-46B6-8E3F-36DC54EA1132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308F5-4237-42E7-98E9-82EB7C29E3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09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308F5-4237-42E7-98E9-82EB7C29E35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5517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10C4-E57A-2C4A-527F-3625732D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F828B-E95C-6F35-6398-8D64831D3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FD243-6788-8852-CD1D-ECC58BB79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2B4A2-0341-E97E-4E53-D176E7255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308F5-4237-42E7-98E9-82EB7C29E35A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4332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308F5-4237-42E7-98E9-82EB7C29E35A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644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88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4100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982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48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808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88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686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37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5298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161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2CB72-1F6E-4200-97DC-805AB359DBC7}" type="datetimeFigureOut">
              <a:rPr lang="en-CA" smtClean="0"/>
              <a:t>2025-09-26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98BC6-0AE2-4B4E-A733-31D2A512F9B6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3F740-5666-4DBE-F3D9-1AD07429CF8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143500" y="63500"/>
            <a:ext cx="16859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2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Unclassified / Non classifié</a:t>
            </a:r>
          </a:p>
        </p:txBody>
      </p:sp>
    </p:spTree>
    <p:extLst>
      <p:ext uri="{BB962C8B-B14F-4D97-AF65-F5344CB8AC3E}">
        <p14:creationId xmlns:p14="http://schemas.microsoft.com/office/powerpoint/2010/main" val="9448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1FE655A-F29D-219F-DD67-41792881A885}"/>
              </a:ext>
            </a:extLst>
          </p:cNvPr>
          <p:cNvSpPr/>
          <p:nvPr/>
        </p:nvSpPr>
        <p:spPr>
          <a:xfrm>
            <a:off x="3644896" y="3017129"/>
            <a:ext cx="3076575" cy="557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Check indices against list of NS500 vs NS2000 indices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2E625-7F83-B553-DCD6-93907CB10122}"/>
              </a:ext>
            </a:extLst>
          </p:cNvPr>
          <p:cNvSpPr txBox="1"/>
          <p:nvPr/>
        </p:nvSpPr>
        <p:spPr>
          <a:xfrm>
            <a:off x="4475040" y="228600"/>
            <a:ext cx="1604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Server 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23430-8E33-7199-D71F-98FDA6B2CFEF}"/>
              </a:ext>
            </a:extLst>
          </p:cNvPr>
          <p:cNvSpPr txBox="1"/>
          <p:nvPr/>
        </p:nvSpPr>
        <p:spPr>
          <a:xfrm>
            <a:off x="943400" y="228600"/>
            <a:ext cx="14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User actions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B3DCC0-B220-46BB-C8D8-DC7F0D0A1021}"/>
              </a:ext>
            </a:extLst>
          </p:cNvPr>
          <p:cNvCxnSpPr>
            <a:cxnSpLocks/>
          </p:cNvCxnSpPr>
          <p:nvPr/>
        </p:nvCxnSpPr>
        <p:spPr>
          <a:xfrm>
            <a:off x="3429000" y="0"/>
            <a:ext cx="0" cy="914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C7F368-4617-BA97-87C9-5BE06CF6947D}"/>
              </a:ext>
            </a:extLst>
          </p:cNvPr>
          <p:cNvSpPr/>
          <p:nvPr/>
        </p:nvSpPr>
        <p:spPr>
          <a:xfrm>
            <a:off x="292100" y="686832"/>
            <a:ext cx="2819400" cy="557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CA" sz="1400" dirty="0"/>
              <a:t>Enter project ID/title, select columns for metadata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FF68AC-257C-AC22-19F8-5706245D3883}"/>
              </a:ext>
            </a:extLst>
          </p:cNvPr>
          <p:cNvSpPr/>
          <p:nvPr/>
        </p:nvSpPr>
        <p:spPr>
          <a:xfrm>
            <a:off x="3644896" y="1244600"/>
            <a:ext cx="3076575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Create custom csv template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566FF98-C1A1-2FFF-D831-9D2E63133C8A}"/>
              </a:ext>
            </a:extLst>
          </p:cNvPr>
          <p:cNvSpPr/>
          <p:nvPr/>
        </p:nvSpPr>
        <p:spPr>
          <a:xfrm>
            <a:off x="328039" y="1667296"/>
            <a:ext cx="2819400" cy="3704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Fill in metadata template (locally)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569B0F-C5D9-3F51-8937-A6C6394F1BA8}"/>
              </a:ext>
            </a:extLst>
          </p:cNvPr>
          <p:cNvSpPr/>
          <p:nvPr/>
        </p:nvSpPr>
        <p:spPr>
          <a:xfrm>
            <a:off x="328039" y="2120428"/>
            <a:ext cx="2819400" cy="349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Upload metadata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A60820-93B2-33E5-DB3E-FA281ACADE96}"/>
              </a:ext>
            </a:extLst>
          </p:cNvPr>
          <p:cNvSpPr/>
          <p:nvPr/>
        </p:nvSpPr>
        <p:spPr>
          <a:xfrm>
            <a:off x="3644896" y="2482725"/>
            <a:ext cx="3076575" cy="439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Compare metadata to schema constraints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D957749-A274-FDCA-68FF-E9C7256CDBA7}"/>
              </a:ext>
            </a:extLst>
          </p:cNvPr>
          <p:cNvSpPr/>
          <p:nvPr/>
        </p:nvSpPr>
        <p:spPr>
          <a:xfrm>
            <a:off x="3644896" y="3646604"/>
            <a:ext cx="3076575" cy="5577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Message about problems in metadata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BF5F61-8C5A-7201-FDE6-180CBCE78DE1}"/>
              </a:ext>
            </a:extLst>
          </p:cNvPr>
          <p:cNvSpPr/>
          <p:nvPr/>
        </p:nvSpPr>
        <p:spPr>
          <a:xfrm>
            <a:off x="329626" y="3017129"/>
            <a:ext cx="2819400" cy="5577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Fix metadata (locally)</a:t>
            </a:r>
          </a:p>
        </p:txBody>
      </p:sp>
      <p:sp>
        <p:nvSpPr>
          <p:cNvPr id="23" name="Arrow: Circular 22">
            <a:extLst>
              <a:ext uri="{FF2B5EF4-FFF2-40B4-BE49-F238E27FC236}">
                <a16:creationId xmlns:a16="http://schemas.microsoft.com/office/drawing/2014/main" id="{6FF8B58C-5711-D99E-7F9E-0691802D3602}"/>
              </a:ext>
            </a:extLst>
          </p:cNvPr>
          <p:cNvSpPr/>
          <p:nvPr/>
        </p:nvSpPr>
        <p:spPr>
          <a:xfrm rot="5400000">
            <a:off x="2497374" y="2676988"/>
            <a:ext cx="1863252" cy="846976"/>
          </a:xfrm>
          <a:prstGeom prst="circularArrow">
            <a:avLst>
              <a:gd name="adj1" fmla="val 4668"/>
              <a:gd name="adj2" fmla="val 272909"/>
              <a:gd name="adj3" fmla="val 13124089"/>
              <a:gd name="adj4" fmla="val 14462791"/>
              <a:gd name="adj5" fmla="val 7557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FD00327-1687-CC6E-E3C0-2ACBBE496661}"/>
              </a:ext>
            </a:extLst>
          </p:cNvPr>
          <p:cNvSpPr/>
          <p:nvPr/>
        </p:nvSpPr>
        <p:spPr>
          <a:xfrm>
            <a:off x="358255" y="4822478"/>
            <a:ext cx="2819400" cy="288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Enter project info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75AAE36-B464-5034-3E3E-6DB17D48D3AF}"/>
              </a:ext>
            </a:extLst>
          </p:cNvPr>
          <p:cNvSpPr/>
          <p:nvPr/>
        </p:nvSpPr>
        <p:spPr>
          <a:xfrm>
            <a:off x="3644896" y="4264710"/>
            <a:ext cx="3076575" cy="557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Extract column names and other info from metadata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910C0CF-6AE6-01A7-8AC3-DE08CB389ECA}"/>
              </a:ext>
            </a:extLst>
          </p:cNvPr>
          <p:cNvSpPr/>
          <p:nvPr/>
        </p:nvSpPr>
        <p:spPr>
          <a:xfrm>
            <a:off x="358255" y="5200650"/>
            <a:ext cx="2819400" cy="557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Select metadata columns as parameters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9526680-1E33-2F4A-A82A-82D8FAA58F9F}"/>
              </a:ext>
            </a:extLst>
          </p:cNvPr>
          <p:cNvSpPr/>
          <p:nvPr/>
        </p:nvSpPr>
        <p:spPr>
          <a:xfrm>
            <a:off x="3644899" y="6164818"/>
            <a:ext cx="3076575" cy="366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Produce GEO-formatted table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06943E5-348C-59A0-DBA0-4A3768BB3C4F}"/>
              </a:ext>
            </a:extLst>
          </p:cNvPr>
          <p:cNvSpPr/>
          <p:nvPr/>
        </p:nvSpPr>
        <p:spPr>
          <a:xfrm>
            <a:off x="3644898" y="6608993"/>
            <a:ext cx="3076575" cy="366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Produce Illumina-formatted table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08FD02C-F70E-F314-3DE3-99D2713BD056}"/>
              </a:ext>
            </a:extLst>
          </p:cNvPr>
          <p:cNvSpPr/>
          <p:nvPr/>
        </p:nvSpPr>
        <p:spPr>
          <a:xfrm>
            <a:off x="3644899" y="7053169"/>
            <a:ext cx="3076575" cy="4442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Produce </a:t>
            </a:r>
            <a:r>
              <a:rPr lang="en-CA" sz="1400" dirty="0" err="1"/>
              <a:t>yaml</a:t>
            </a:r>
            <a:r>
              <a:rPr lang="en-CA" sz="1400" dirty="0"/>
              <a:t> file with project info for config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BBA609-BE68-E6E0-01BA-9CAAF3B4E969}"/>
              </a:ext>
            </a:extLst>
          </p:cNvPr>
          <p:cNvSpPr/>
          <p:nvPr/>
        </p:nvSpPr>
        <p:spPr>
          <a:xfrm>
            <a:off x="3644897" y="7575470"/>
            <a:ext cx="3076575" cy="4441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Produce some useful input for projects database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6147642-13CB-3662-A921-79A94CCE9D7A}"/>
              </a:ext>
            </a:extLst>
          </p:cNvPr>
          <p:cNvSpPr/>
          <p:nvPr/>
        </p:nvSpPr>
        <p:spPr>
          <a:xfrm>
            <a:off x="3644897" y="8358867"/>
            <a:ext cx="3076575" cy="5565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Email output files to submitter and to </a:t>
            </a:r>
            <a:r>
              <a:rPr lang="en-CA" sz="1400" dirty="0" err="1"/>
              <a:t>bioinfomaticians</a:t>
            </a:r>
            <a:endParaRPr lang="en-CA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2AE28B9-E717-C2F4-646C-83A2C83F66FC}"/>
              </a:ext>
            </a:extLst>
          </p:cNvPr>
          <p:cNvSpPr/>
          <p:nvPr/>
        </p:nvSpPr>
        <p:spPr>
          <a:xfrm>
            <a:off x="358255" y="5841133"/>
            <a:ext cx="2819400" cy="3236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Submit</a:t>
            </a:r>
          </a:p>
        </p:txBody>
      </p:sp>
    </p:spTree>
    <p:extLst>
      <p:ext uri="{BB962C8B-B14F-4D97-AF65-F5344CB8AC3E}">
        <p14:creationId xmlns:p14="http://schemas.microsoft.com/office/powerpoint/2010/main" val="359198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3319D2-F885-DD81-FE2C-85504CB4AC77}"/>
              </a:ext>
            </a:extLst>
          </p:cNvPr>
          <p:cNvSpPr txBox="1"/>
          <p:nvPr/>
        </p:nvSpPr>
        <p:spPr>
          <a:xfrm>
            <a:off x="451104" y="341376"/>
            <a:ext cx="412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User action 1: Metadata template setup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B6A07D-CD73-4F1A-321B-4B1753A2BB71}"/>
              </a:ext>
            </a:extLst>
          </p:cNvPr>
          <p:cNvSpPr/>
          <p:nvPr/>
        </p:nvSpPr>
        <p:spPr>
          <a:xfrm>
            <a:off x="643128" y="1373082"/>
            <a:ext cx="5571744" cy="463296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Check boxes for which columns to include in downloadable metadata sheet. Have hover-over explanations for most columns.</a:t>
            </a:r>
          </a:p>
          <a:p>
            <a:pPr algn="ctr"/>
            <a:r>
              <a:rPr lang="en-CA" sz="1000" dirty="0">
                <a:solidFill>
                  <a:schemeClr val="tx1"/>
                </a:solidFill>
              </a:rPr>
              <a:t>(If this is even possible to make a dynamic CSV like this!)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D6FEB8-8CC2-0997-45A2-29698028345F}"/>
              </a:ext>
            </a:extLst>
          </p:cNvPr>
          <p:cNvSpPr/>
          <p:nvPr/>
        </p:nvSpPr>
        <p:spPr>
          <a:xfrm>
            <a:off x="490255" y="1978484"/>
            <a:ext cx="5755725" cy="268826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23068-EF16-0268-76F5-FC42B54CFC4D}"/>
              </a:ext>
            </a:extLst>
          </p:cNvPr>
          <p:cNvSpPr txBox="1"/>
          <p:nvPr/>
        </p:nvSpPr>
        <p:spPr>
          <a:xfrm>
            <a:off x="654848" y="2034535"/>
            <a:ext cx="990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Required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AC42E1-4548-06FC-6E26-A569E4918978}"/>
              </a:ext>
            </a:extLst>
          </p:cNvPr>
          <p:cNvSpPr/>
          <p:nvPr/>
        </p:nvSpPr>
        <p:spPr>
          <a:xfrm>
            <a:off x="3119073" y="2110083"/>
            <a:ext cx="2624892" cy="65260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User doesn’t get to select anything, these are always on template.</a:t>
            </a:r>
          </a:p>
          <a:p>
            <a:pPr algn="ctr"/>
            <a:r>
              <a:rPr lang="en-CA" sz="1000" dirty="0">
                <a:solidFill>
                  <a:schemeClr val="tx1"/>
                </a:solidFill>
              </a:rPr>
              <a:t>Have hover-over explanations for each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C5FFF-4252-0BA4-DF98-478FC94887D7}"/>
              </a:ext>
            </a:extLst>
          </p:cNvPr>
          <p:cNvSpPr txBox="1"/>
          <p:nvPr/>
        </p:nvSpPr>
        <p:spPr>
          <a:xfrm>
            <a:off x="654848" y="2328456"/>
            <a:ext cx="20518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 err="1"/>
              <a:t>sampleID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replicate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I7_Index_ID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I7_Index_seq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I5_Index_ID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I5_Index_seq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 err="1"/>
              <a:t>technical_control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 err="1"/>
              <a:t>reference_RNA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 err="1"/>
              <a:t>vehicle_control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 err="1"/>
              <a:t>Include_in_analysis</a:t>
            </a:r>
            <a:endParaRPr lang="en-CA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85B05E-E2D8-8A83-690A-6B0A3457247F}"/>
              </a:ext>
            </a:extLst>
          </p:cNvPr>
          <p:cNvSpPr/>
          <p:nvPr/>
        </p:nvSpPr>
        <p:spPr>
          <a:xfrm>
            <a:off x="490255" y="4808852"/>
            <a:ext cx="5755724" cy="28397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0FBB03-2E40-3D92-1092-46AE5D519083}"/>
              </a:ext>
            </a:extLst>
          </p:cNvPr>
          <p:cNvSpPr txBox="1"/>
          <p:nvPr/>
        </p:nvSpPr>
        <p:spPr>
          <a:xfrm>
            <a:off x="748401" y="4864902"/>
            <a:ext cx="212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Experimental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CD5CC9-BFC5-C2F6-79E7-E4911221D30A}"/>
              </a:ext>
            </a:extLst>
          </p:cNvPr>
          <p:cNvSpPr txBox="1"/>
          <p:nvPr/>
        </p:nvSpPr>
        <p:spPr>
          <a:xfrm>
            <a:off x="804658" y="5536251"/>
            <a:ext cx="13800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chemical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dose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timepoint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batch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other 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other 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other 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CA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C1065F-08D2-1DE8-C976-7FBDEA19AA6D}"/>
              </a:ext>
            </a:extLst>
          </p:cNvPr>
          <p:cNvSpPr/>
          <p:nvPr/>
        </p:nvSpPr>
        <p:spPr>
          <a:xfrm>
            <a:off x="3181797" y="4936281"/>
            <a:ext cx="2647531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User selects as many as necessary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DE7878-5B11-C4A0-473E-23B976AC0111}"/>
              </a:ext>
            </a:extLst>
          </p:cNvPr>
          <p:cNvSpPr/>
          <p:nvPr/>
        </p:nvSpPr>
        <p:spPr>
          <a:xfrm>
            <a:off x="2044351" y="5540402"/>
            <a:ext cx="3927824" cy="28096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If chemical selected, auto-add CASN column to metadata sheet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6171A8-89AF-6D62-864C-B3AB2B78EDAA}"/>
              </a:ext>
            </a:extLst>
          </p:cNvPr>
          <p:cNvSpPr/>
          <p:nvPr/>
        </p:nvSpPr>
        <p:spPr>
          <a:xfrm>
            <a:off x="1765198" y="6462566"/>
            <a:ext cx="1416599" cy="1737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37709-3866-5A55-0BF3-8B338ACBBDAD}"/>
              </a:ext>
            </a:extLst>
          </p:cNvPr>
          <p:cNvSpPr/>
          <p:nvPr/>
        </p:nvSpPr>
        <p:spPr>
          <a:xfrm>
            <a:off x="1765198" y="6704376"/>
            <a:ext cx="1416599" cy="1737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B2A9A-EC93-4D5C-B60F-8F71959F0038}"/>
              </a:ext>
            </a:extLst>
          </p:cNvPr>
          <p:cNvSpPr/>
          <p:nvPr/>
        </p:nvSpPr>
        <p:spPr>
          <a:xfrm>
            <a:off x="1765198" y="6908480"/>
            <a:ext cx="1416599" cy="1737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6E019F-0C12-B850-162E-023F3346BDEE}"/>
              </a:ext>
            </a:extLst>
          </p:cNvPr>
          <p:cNvSpPr/>
          <p:nvPr/>
        </p:nvSpPr>
        <p:spPr>
          <a:xfrm>
            <a:off x="3368117" y="6462566"/>
            <a:ext cx="2298418" cy="71476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If Other selected, user puts the column name in the box. This gives flexibility but might make things more complicated later 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A697B0-2A1B-0CB7-4DE9-A345B44592DA}"/>
              </a:ext>
            </a:extLst>
          </p:cNvPr>
          <p:cNvSpPr txBox="1"/>
          <p:nvPr/>
        </p:nvSpPr>
        <p:spPr>
          <a:xfrm>
            <a:off x="429768" y="845717"/>
            <a:ext cx="940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Project ID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FD5E5D-A856-9022-7F4F-CD512238D147}"/>
              </a:ext>
            </a:extLst>
          </p:cNvPr>
          <p:cNvSpPr/>
          <p:nvPr/>
        </p:nvSpPr>
        <p:spPr>
          <a:xfrm>
            <a:off x="1614601" y="845717"/>
            <a:ext cx="125577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E23CEBC-2176-E074-036A-F5DD89E985FB}"/>
              </a:ext>
            </a:extLst>
          </p:cNvPr>
          <p:cNvSpPr/>
          <p:nvPr/>
        </p:nvSpPr>
        <p:spPr>
          <a:xfrm>
            <a:off x="3087964" y="853951"/>
            <a:ext cx="3169920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Max 12 characters, no spaces or special characters</a:t>
            </a:r>
          </a:p>
        </p:txBody>
      </p:sp>
    </p:spTree>
    <p:extLst>
      <p:ext uri="{BB962C8B-B14F-4D97-AF65-F5344CB8AC3E}">
        <p14:creationId xmlns:p14="http://schemas.microsoft.com/office/powerpoint/2010/main" val="159165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C028-0AB7-2F3A-E38C-FA8E3185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27B176-74CB-D9B4-4B16-497C02A44089}"/>
              </a:ext>
            </a:extLst>
          </p:cNvPr>
          <p:cNvSpPr txBox="1"/>
          <p:nvPr/>
        </p:nvSpPr>
        <p:spPr>
          <a:xfrm>
            <a:off x="451104" y="341376"/>
            <a:ext cx="5179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User action 1: Metadata template setup continued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C18E0A-9ECD-504F-F003-B8EDB12F42DD}"/>
              </a:ext>
            </a:extLst>
          </p:cNvPr>
          <p:cNvSpPr/>
          <p:nvPr/>
        </p:nvSpPr>
        <p:spPr>
          <a:xfrm>
            <a:off x="548599" y="926576"/>
            <a:ext cx="5596210" cy="131820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50D0DB-780F-1271-B23C-F9960797149D}"/>
              </a:ext>
            </a:extLst>
          </p:cNvPr>
          <p:cNvSpPr txBox="1"/>
          <p:nvPr/>
        </p:nvSpPr>
        <p:spPr>
          <a:xfrm>
            <a:off x="713191" y="1028719"/>
            <a:ext cx="2353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Sample characteristics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5A3AB6-7A37-D172-9EA7-0B8EEE4A29FB}"/>
              </a:ext>
            </a:extLst>
          </p:cNvPr>
          <p:cNvSpPr txBox="1"/>
          <p:nvPr/>
        </p:nvSpPr>
        <p:spPr>
          <a:xfrm>
            <a:off x="646516" y="1336496"/>
            <a:ext cx="13127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tissue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 err="1"/>
              <a:t>cell_line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 err="1"/>
              <a:t>cell_type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CA" sz="1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3B69CD2-D654-D8B6-C555-A99262CA015D}"/>
              </a:ext>
            </a:extLst>
          </p:cNvPr>
          <p:cNvSpPr/>
          <p:nvPr/>
        </p:nvSpPr>
        <p:spPr>
          <a:xfrm>
            <a:off x="3066605" y="1071316"/>
            <a:ext cx="2624892" cy="41274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User MUST choose at least one (needed for GEO metadata)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526AE0-9156-B53D-CAEF-A2C4FAC1BDBD}"/>
              </a:ext>
            </a:extLst>
          </p:cNvPr>
          <p:cNvSpPr/>
          <p:nvPr/>
        </p:nvSpPr>
        <p:spPr>
          <a:xfrm>
            <a:off x="548598" y="2346920"/>
            <a:ext cx="5596209" cy="256287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AD6C2-F4A0-FA85-A546-1C469181C754}"/>
              </a:ext>
            </a:extLst>
          </p:cNvPr>
          <p:cNvSpPr txBox="1"/>
          <p:nvPr/>
        </p:nvSpPr>
        <p:spPr>
          <a:xfrm>
            <a:off x="756768" y="2449063"/>
            <a:ext cx="2373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Sample characteristics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360D47-0C56-029D-E0FC-0C82AFFF810C}"/>
              </a:ext>
            </a:extLst>
          </p:cNvPr>
          <p:cNvSpPr txBox="1"/>
          <p:nvPr/>
        </p:nvSpPr>
        <p:spPr>
          <a:xfrm>
            <a:off x="646516" y="2779977"/>
            <a:ext cx="14379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sex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 err="1"/>
              <a:t>animal_ID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 err="1"/>
              <a:t>patient_ID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other 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other 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400" dirty="0"/>
              <a:t>other 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CA" sz="14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9FA014A-58FB-5148-7801-012383626D59}"/>
              </a:ext>
            </a:extLst>
          </p:cNvPr>
          <p:cNvSpPr/>
          <p:nvPr/>
        </p:nvSpPr>
        <p:spPr>
          <a:xfrm>
            <a:off x="3085210" y="2472200"/>
            <a:ext cx="2647531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User selects as many as necessary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9F2DA1-2661-04D0-CDFD-748126F41787}"/>
              </a:ext>
            </a:extLst>
          </p:cNvPr>
          <p:cNvSpPr/>
          <p:nvPr/>
        </p:nvSpPr>
        <p:spPr>
          <a:xfrm>
            <a:off x="1624302" y="3480032"/>
            <a:ext cx="1416599" cy="1737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9EF33C-7B98-9F8C-F688-5A85ECAEBD12}"/>
              </a:ext>
            </a:extLst>
          </p:cNvPr>
          <p:cNvSpPr/>
          <p:nvPr/>
        </p:nvSpPr>
        <p:spPr>
          <a:xfrm>
            <a:off x="1624302" y="3721842"/>
            <a:ext cx="1416599" cy="1737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D804FD-6A21-1477-BD9F-B8D66314A658}"/>
              </a:ext>
            </a:extLst>
          </p:cNvPr>
          <p:cNvSpPr/>
          <p:nvPr/>
        </p:nvSpPr>
        <p:spPr>
          <a:xfrm>
            <a:off x="1624302" y="3925946"/>
            <a:ext cx="1416599" cy="17377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39DA908-5426-13A1-8191-32AA4E765A57}"/>
              </a:ext>
            </a:extLst>
          </p:cNvPr>
          <p:cNvSpPr/>
          <p:nvPr/>
        </p:nvSpPr>
        <p:spPr>
          <a:xfrm>
            <a:off x="451104" y="5979473"/>
            <a:ext cx="5693703" cy="1318201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</a:rPr>
              <a:t>Server action 1: Once User clicks “Download metadata template”, create a template named {ProjectID}_metadata.csv with all the selected columns, the user downloads it and fills it out on their local machine. </a:t>
            </a:r>
            <a:br>
              <a:rPr lang="en-CA" sz="1200" b="1" dirty="0">
                <a:solidFill>
                  <a:schemeClr val="tx1"/>
                </a:solidFill>
              </a:rPr>
            </a:br>
            <a:endParaRPr lang="en-CA" sz="1200" b="1" dirty="0">
              <a:solidFill>
                <a:schemeClr val="tx1"/>
              </a:solidFill>
            </a:endParaRPr>
          </a:p>
          <a:p>
            <a:pPr algn="ctr"/>
            <a:r>
              <a:rPr lang="en-CA" sz="1200" b="1" dirty="0">
                <a:solidFill>
                  <a:schemeClr val="tx1"/>
                </a:solidFill>
              </a:rPr>
              <a:t>Once metadata csv is filled, they can return to upload it and fill in the rest of the project info.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EF991B-BBB5-ED50-A447-C5975CDE68A9}"/>
              </a:ext>
            </a:extLst>
          </p:cNvPr>
          <p:cNvSpPr/>
          <p:nvPr/>
        </p:nvSpPr>
        <p:spPr>
          <a:xfrm>
            <a:off x="3259766" y="3451348"/>
            <a:ext cx="2298418" cy="71476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If Other selected, user puts the column name in the box. This gives flexibility but might make things more complicated later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2AE340-0834-D0DF-ADA9-6D40725761D5}"/>
              </a:ext>
            </a:extLst>
          </p:cNvPr>
          <p:cNvSpPr/>
          <p:nvPr/>
        </p:nvSpPr>
        <p:spPr>
          <a:xfrm>
            <a:off x="548598" y="5028916"/>
            <a:ext cx="5596209" cy="40985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80AAD-1F40-DD42-E936-6B6E8A16E002}"/>
              </a:ext>
            </a:extLst>
          </p:cNvPr>
          <p:cNvSpPr txBox="1"/>
          <p:nvPr/>
        </p:nvSpPr>
        <p:spPr>
          <a:xfrm>
            <a:off x="666980" y="5071192"/>
            <a:ext cx="2373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Additional</a:t>
            </a:r>
          </a:p>
        </p:txBody>
      </p:sp>
    </p:spTree>
    <p:extLst>
      <p:ext uri="{BB962C8B-B14F-4D97-AF65-F5344CB8AC3E}">
        <p14:creationId xmlns:p14="http://schemas.microsoft.com/office/powerpoint/2010/main" val="287711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32E866-E6D1-414C-2718-BD19C8D3DDB1}"/>
              </a:ext>
            </a:extLst>
          </p:cNvPr>
          <p:cNvSpPr txBox="1"/>
          <p:nvPr/>
        </p:nvSpPr>
        <p:spPr>
          <a:xfrm>
            <a:off x="451104" y="341376"/>
            <a:ext cx="422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Server action 2: Metadata schema check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4EB859-3A68-6A8A-AFAE-D169817874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83864"/>
              </p:ext>
            </p:extLst>
          </p:nvPr>
        </p:nvGraphicFramePr>
        <p:xfrm>
          <a:off x="604837" y="819150"/>
          <a:ext cx="5648326" cy="6858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7788">
                  <a:extLst>
                    <a:ext uri="{9D8B030D-6E8A-4147-A177-3AD203B41FA5}">
                      <a16:colId xmlns:a16="http://schemas.microsoft.com/office/drawing/2014/main" val="3106319666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1257569817"/>
                    </a:ext>
                  </a:extLst>
                </a:gridCol>
                <a:gridCol w="823913">
                  <a:extLst>
                    <a:ext uri="{9D8B030D-6E8A-4147-A177-3AD203B41FA5}">
                      <a16:colId xmlns:a16="http://schemas.microsoft.com/office/drawing/2014/main" val="920490121"/>
                    </a:ext>
                  </a:extLst>
                </a:gridCol>
              </a:tblGrid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 err="1"/>
                        <a:t>Contraints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193236"/>
                  </a:ext>
                </a:extLst>
              </a:tr>
              <a:tr h="4374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CA" sz="1200" dirty="0" err="1"/>
                        <a:t>sampleID</a:t>
                      </a:r>
                      <a:endParaRPr lang="en-CA" sz="1200" dirty="0"/>
                    </a:p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String, no spaces, periods, or special characters. Must be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843191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replicate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660900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err="1"/>
                        <a:t>well_row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single character A-G, </a:t>
                      </a:r>
                      <a:r>
                        <a:rPr lang="en-CA" sz="1200" dirty="0">
                          <a:solidFill>
                            <a:srgbClr val="FF0000"/>
                          </a:solidFill>
                        </a:rPr>
                        <a:t>no zeroes for single digit wells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694933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err="1"/>
                        <a:t>well_column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number 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250503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I7_Index_ID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String, no spaces or 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033718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I7_Index_seq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String, no spaces or 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582370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I5_Index_ID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String, no spaces or 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260988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I5_Index_seq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String, no spaces or 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97957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err="1"/>
                        <a:t>technical_control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Boolean (“T” or “F”)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371378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err="1"/>
                        <a:t>reference_RNA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Boolean (“T” or “F”)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655250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err="1"/>
                        <a:t>vehicle_control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Boolean (“T” or “F”)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094957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Chemical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String, no spaces or 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992228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CASN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715956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Dose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746015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Timepoint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no spaces or 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69059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no spaces or 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940890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441386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 err="1"/>
                        <a:t>Cell_line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254019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 err="1"/>
                        <a:t>Cell_type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749407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455548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dirty="0" err="1"/>
                        <a:t>Animal_ID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249919"/>
                  </a:ext>
                </a:extLst>
              </a:tr>
              <a:tr h="274355">
                <a:tc>
                  <a:txBody>
                    <a:bodyPr/>
                    <a:lstStyle/>
                    <a:p>
                      <a:r>
                        <a:rPr lang="en-CA" sz="1200" err="1"/>
                        <a:t>Patient_ID</a:t>
                      </a:r>
                      <a:r>
                        <a:rPr lang="en-CA" sz="1200" dirty="0"/>
                        <a:t>/</a:t>
                      </a:r>
                      <a:r>
                        <a:rPr lang="en-CA" sz="1200">
                          <a:solidFill>
                            <a:srgbClr val="FF0000"/>
                          </a:solidFill>
                        </a:rPr>
                        <a:t>Volunteer</a:t>
                      </a:r>
                      <a:r>
                        <a:rPr lang="en-CA" sz="1200" dirty="0">
                          <a:solidFill>
                            <a:srgbClr val="FF0000"/>
                          </a:solidFill>
                        </a:rPr>
                        <a:t>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667065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844C19-6247-E7C0-5A70-A2E7781A4802}"/>
              </a:ext>
            </a:extLst>
          </p:cNvPr>
          <p:cNvSpPr/>
          <p:nvPr/>
        </p:nvSpPr>
        <p:spPr>
          <a:xfrm>
            <a:off x="604837" y="7851436"/>
            <a:ext cx="5648326" cy="80618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b="1" dirty="0">
                <a:solidFill>
                  <a:schemeClr val="tx1"/>
                </a:solidFill>
              </a:rPr>
              <a:t>Check that column contents match schema.</a:t>
            </a:r>
          </a:p>
          <a:p>
            <a:pPr algn="ctr"/>
            <a:r>
              <a:rPr lang="en-CA" sz="1100" b="1" dirty="0">
                <a:solidFill>
                  <a:schemeClr val="tx1"/>
                </a:solidFill>
              </a:rPr>
              <a:t>If not, give user a detailed message, ask them to correct problems and re-upload</a:t>
            </a:r>
          </a:p>
          <a:p>
            <a:pPr algn="ctr"/>
            <a:r>
              <a:rPr lang="en-CA" sz="1100" b="1" dirty="0">
                <a:solidFill>
                  <a:schemeClr val="tx1"/>
                </a:solidFill>
              </a:rPr>
              <a:t>Ideally, give them all problems at once, not just one problem -&gt; they fix and upload -&gt; next problem -&gt; fix and upload -&gt; etc. That always annoys me with GEO/SRA</a:t>
            </a:r>
          </a:p>
        </p:txBody>
      </p:sp>
    </p:spTree>
    <p:extLst>
      <p:ext uri="{BB962C8B-B14F-4D97-AF65-F5344CB8AC3E}">
        <p14:creationId xmlns:p14="http://schemas.microsoft.com/office/powerpoint/2010/main" val="271604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5FE10-688E-A877-73E4-0D5A12B02699}"/>
              </a:ext>
            </a:extLst>
          </p:cNvPr>
          <p:cNvSpPr txBox="1"/>
          <p:nvPr/>
        </p:nvSpPr>
        <p:spPr>
          <a:xfrm>
            <a:off x="451104" y="341376"/>
            <a:ext cx="206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Project info stage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5B3EE-107D-2EB1-DF7C-F47FBDA631AB}"/>
              </a:ext>
            </a:extLst>
          </p:cNvPr>
          <p:cNvSpPr txBox="1"/>
          <p:nvPr/>
        </p:nvSpPr>
        <p:spPr>
          <a:xfrm>
            <a:off x="536448" y="1158240"/>
            <a:ext cx="9403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Project 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25584-EF73-11C3-3920-2C2AC4FFD381}"/>
              </a:ext>
            </a:extLst>
          </p:cNvPr>
          <p:cNvSpPr/>
          <p:nvPr/>
        </p:nvSpPr>
        <p:spPr>
          <a:xfrm>
            <a:off x="2087642" y="1158240"/>
            <a:ext cx="1255776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58090-6D94-BD6D-E9EC-96C65F7A24E6}"/>
              </a:ext>
            </a:extLst>
          </p:cNvPr>
          <p:cNvSpPr txBox="1"/>
          <p:nvPr/>
        </p:nvSpPr>
        <p:spPr>
          <a:xfrm>
            <a:off x="536448" y="1637740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PI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C226C-08CB-BEE2-A2A8-41DEE78AFA09}"/>
              </a:ext>
            </a:extLst>
          </p:cNvPr>
          <p:cNvSpPr/>
          <p:nvPr/>
        </p:nvSpPr>
        <p:spPr>
          <a:xfrm>
            <a:off x="2087642" y="1637740"/>
            <a:ext cx="125577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19CD03-F44D-2148-7763-DF07F617E338}"/>
              </a:ext>
            </a:extLst>
          </p:cNvPr>
          <p:cNvSpPr txBox="1"/>
          <p:nvPr/>
        </p:nvSpPr>
        <p:spPr>
          <a:xfrm>
            <a:off x="536448" y="2117240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PI email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D6F093-A6ED-1A78-4821-AF359F1F8488}"/>
              </a:ext>
            </a:extLst>
          </p:cNvPr>
          <p:cNvSpPr/>
          <p:nvPr/>
        </p:nvSpPr>
        <p:spPr>
          <a:xfrm>
            <a:off x="2087642" y="2117240"/>
            <a:ext cx="125577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0E6F51-8A67-6631-0B1C-D5D0E5375522}"/>
              </a:ext>
            </a:extLst>
          </p:cNvPr>
          <p:cNvSpPr txBox="1"/>
          <p:nvPr/>
        </p:nvSpPr>
        <p:spPr>
          <a:xfrm>
            <a:off x="536448" y="3435075"/>
            <a:ext cx="1571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Instrument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B5E387-585A-312C-56D6-820B4E7AC145}"/>
              </a:ext>
            </a:extLst>
          </p:cNvPr>
          <p:cNvSpPr/>
          <p:nvPr/>
        </p:nvSpPr>
        <p:spPr>
          <a:xfrm>
            <a:off x="2087642" y="3435075"/>
            <a:ext cx="1255776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27E59D2-3661-BABD-B0AB-B7AF02D318EA}"/>
              </a:ext>
            </a:extLst>
          </p:cNvPr>
          <p:cNvSpPr/>
          <p:nvPr/>
        </p:nvSpPr>
        <p:spPr>
          <a:xfrm>
            <a:off x="3535680" y="1158240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 err="1">
                <a:solidFill>
                  <a:schemeClr val="tx1"/>
                </a:solidFill>
              </a:rPr>
              <a:t>Autofilled</a:t>
            </a:r>
            <a:r>
              <a:rPr lang="en-CA" sz="1000" dirty="0">
                <a:solidFill>
                  <a:schemeClr val="tx1"/>
                </a:solidFill>
              </a:rPr>
              <a:t> from {ProjectID}_metadata.csv filename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B86384-DB74-07AA-981A-283093FF96AD}"/>
              </a:ext>
            </a:extLst>
          </p:cNvPr>
          <p:cNvSpPr/>
          <p:nvPr/>
        </p:nvSpPr>
        <p:spPr>
          <a:xfrm>
            <a:off x="3535680" y="3435074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List from GEO metadata: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711A56-F3BB-511C-3A86-EF2137143F4A}"/>
              </a:ext>
            </a:extLst>
          </p:cNvPr>
          <p:cNvSpPr txBox="1"/>
          <p:nvPr/>
        </p:nvSpPr>
        <p:spPr>
          <a:xfrm>
            <a:off x="547926" y="4536660"/>
            <a:ext cx="8524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Platform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3C20E6-6EBA-CBCE-D237-2E8B84CA73B4}"/>
              </a:ext>
            </a:extLst>
          </p:cNvPr>
          <p:cNvSpPr/>
          <p:nvPr/>
        </p:nvSpPr>
        <p:spPr>
          <a:xfrm>
            <a:off x="2089502" y="4538147"/>
            <a:ext cx="1255776" cy="3062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C534AE-A6AC-D15F-C0A7-1C7A3F8F9261}"/>
              </a:ext>
            </a:extLst>
          </p:cNvPr>
          <p:cNvSpPr/>
          <p:nvPr/>
        </p:nvSpPr>
        <p:spPr>
          <a:xfrm>
            <a:off x="3516893" y="792251"/>
            <a:ext cx="3169920" cy="307777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b="1" u="sng" dirty="0">
                <a:solidFill>
                  <a:schemeClr val="tx1"/>
                </a:solidFill>
              </a:rPr>
              <a:t>Constraints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BBF2FA6-3C30-E2AA-6F31-6B02633782B4}"/>
              </a:ext>
            </a:extLst>
          </p:cNvPr>
          <p:cNvSpPr/>
          <p:nvPr/>
        </p:nvSpPr>
        <p:spPr>
          <a:xfrm>
            <a:off x="3535680" y="2103415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Email format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CE89699-A740-9E5A-8ADD-3B67C4753099}"/>
              </a:ext>
            </a:extLst>
          </p:cNvPr>
          <p:cNvSpPr/>
          <p:nvPr/>
        </p:nvSpPr>
        <p:spPr>
          <a:xfrm>
            <a:off x="3535680" y="4536660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 err="1">
                <a:solidFill>
                  <a:schemeClr val="tx1"/>
                </a:solidFill>
              </a:rPr>
              <a:t>TempO</a:t>
            </a:r>
            <a:r>
              <a:rPr lang="en-CA" sz="1000" dirty="0">
                <a:solidFill>
                  <a:schemeClr val="tx1"/>
                </a:solidFill>
              </a:rPr>
              <a:t>-Seq / RNA-Seq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4F8265-7774-E4CB-5CE3-C75F1435F98F}"/>
              </a:ext>
            </a:extLst>
          </p:cNvPr>
          <p:cNvSpPr txBox="1"/>
          <p:nvPr/>
        </p:nvSpPr>
        <p:spPr>
          <a:xfrm>
            <a:off x="536448" y="3886925"/>
            <a:ext cx="1284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Sequenced by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41B9A8-74E5-E904-A11F-C7351E7A7062}"/>
              </a:ext>
            </a:extLst>
          </p:cNvPr>
          <p:cNvSpPr/>
          <p:nvPr/>
        </p:nvSpPr>
        <p:spPr>
          <a:xfrm>
            <a:off x="2087642" y="3886925"/>
            <a:ext cx="1255776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7B9B12-F244-4B94-6336-FB214293A73A}"/>
              </a:ext>
            </a:extLst>
          </p:cNvPr>
          <p:cNvSpPr/>
          <p:nvPr/>
        </p:nvSpPr>
        <p:spPr>
          <a:xfrm>
            <a:off x="3535680" y="3766795"/>
            <a:ext cx="3023616" cy="67217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Dropdown with “other” option? Some way of knowing where/by whom this was done so we know where to look for the raw data (server, </a:t>
            </a:r>
            <a:r>
              <a:rPr lang="en-CA" sz="1000" dirty="0" err="1">
                <a:solidFill>
                  <a:schemeClr val="tx1"/>
                </a:solidFill>
              </a:rPr>
              <a:t>basespace</a:t>
            </a:r>
            <a:r>
              <a:rPr lang="en-CA" sz="1000" dirty="0">
                <a:solidFill>
                  <a:schemeClr val="tx1"/>
                </a:solidFill>
              </a:rPr>
              <a:t>, </a:t>
            </a:r>
            <a:r>
              <a:rPr lang="en-CA" sz="1000" dirty="0" err="1">
                <a:solidFill>
                  <a:schemeClr val="tx1"/>
                </a:solidFill>
              </a:rPr>
              <a:t>etc</a:t>
            </a:r>
            <a:r>
              <a:rPr lang="en-CA" sz="1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B5B5BE-81E1-4DE8-D676-739EF2C71962}"/>
              </a:ext>
            </a:extLst>
          </p:cNvPr>
          <p:cNvSpPr txBox="1"/>
          <p:nvPr/>
        </p:nvSpPr>
        <p:spPr>
          <a:xfrm>
            <a:off x="547926" y="4989997"/>
            <a:ext cx="1881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/>
              <a:t>If platform == </a:t>
            </a:r>
            <a:r>
              <a:rPr lang="en-CA" sz="1200" dirty="0" err="1"/>
              <a:t>TempO</a:t>
            </a:r>
            <a:r>
              <a:rPr lang="en-CA" sz="1200" dirty="0"/>
              <a:t>-Seq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2A4743-7F9C-833B-1DB3-C29AA5CA57A6}"/>
              </a:ext>
            </a:extLst>
          </p:cNvPr>
          <p:cNvSpPr/>
          <p:nvPr/>
        </p:nvSpPr>
        <p:spPr>
          <a:xfrm>
            <a:off x="547926" y="4989997"/>
            <a:ext cx="6138887" cy="67738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C8DC95-76F7-72DA-8E91-88E295BF7469}"/>
              </a:ext>
            </a:extLst>
          </p:cNvPr>
          <p:cNvSpPr txBox="1"/>
          <p:nvPr/>
        </p:nvSpPr>
        <p:spPr>
          <a:xfrm>
            <a:off x="547926" y="5266996"/>
            <a:ext cx="118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 err="1"/>
              <a:t>Biospyder</a:t>
            </a:r>
            <a:r>
              <a:rPr lang="en-CA" sz="1400" dirty="0"/>
              <a:t> kit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2D7746-344D-876B-E883-222383C9BDFD}"/>
              </a:ext>
            </a:extLst>
          </p:cNvPr>
          <p:cNvSpPr/>
          <p:nvPr/>
        </p:nvSpPr>
        <p:spPr>
          <a:xfrm>
            <a:off x="2089502" y="5268483"/>
            <a:ext cx="1255776" cy="3062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F0DEBA9-D4F3-3181-6F2C-203B0A7B251C}"/>
              </a:ext>
            </a:extLst>
          </p:cNvPr>
          <p:cNvSpPr/>
          <p:nvPr/>
        </p:nvSpPr>
        <p:spPr>
          <a:xfrm>
            <a:off x="3535680" y="5266996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List of available </a:t>
            </a:r>
            <a:r>
              <a:rPr lang="en-CA" sz="1000" dirty="0" err="1">
                <a:solidFill>
                  <a:schemeClr val="tx1"/>
                </a:solidFill>
              </a:rPr>
              <a:t>biospyder</a:t>
            </a:r>
            <a:r>
              <a:rPr lang="en-CA" sz="1000" dirty="0">
                <a:solidFill>
                  <a:schemeClr val="tx1"/>
                </a:solidFill>
              </a:rPr>
              <a:t> kits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DCF815-1EF9-5AE5-6279-1A93CA114F21}"/>
              </a:ext>
            </a:extLst>
          </p:cNvPr>
          <p:cNvSpPr txBox="1"/>
          <p:nvPr/>
        </p:nvSpPr>
        <p:spPr>
          <a:xfrm>
            <a:off x="547926" y="5763586"/>
            <a:ext cx="1451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Sequence mode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5FFE4E0-FA27-BCE7-738B-3981072B3B64}"/>
              </a:ext>
            </a:extLst>
          </p:cNvPr>
          <p:cNvSpPr/>
          <p:nvPr/>
        </p:nvSpPr>
        <p:spPr>
          <a:xfrm>
            <a:off x="2089502" y="5765073"/>
            <a:ext cx="1255776" cy="3062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0441FDB-4454-532D-E6FD-8DE34F8CB778}"/>
              </a:ext>
            </a:extLst>
          </p:cNvPr>
          <p:cNvSpPr/>
          <p:nvPr/>
        </p:nvSpPr>
        <p:spPr>
          <a:xfrm>
            <a:off x="3535680" y="5763586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Single-end / paired-end (with note that </a:t>
            </a:r>
            <a:r>
              <a:rPr lang="en-CA" sz="1000" dirty="0" err="1">
                <a:solidFill>
                  <a:schemeClr val="tx1"/>
                </a:solidFill>
              </a:rPr>
              <a:t>temposeq</a:t>
            </a:r>
            <a:r>
              <a:rPr lang="en-CA" sz="1000" dirty="0">
                <a:solidFill>
                  <a:schemeClr val="tx1"/>
                </a:solidFill>
              </a:rPr>
              <a:t> is always single)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1C8AA1-3D22-FD70-89B8-5A5160093A2B}"/>
              </a:ext>
            </a:extLst>
          </p:cNvPr>
          <p:cNvSpPr txBox="1"/>
          <p:nvPr/>
        </p:nvSpPr>
        <p:spPr>
          <a:xfrm>
            <a:off x="536448" y="6301161"/>
            <a:ext cx="936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Organism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13EBF7-71F9-A42D-35FB-703DCB98EF56}"/>
              </a:ext>
            </a:extLst>
          </p:cNvPr>
          <p:cNvSpPr/>
          <p:nvPr/>
        </p:nvSpPr>
        <p:spPr>
          <a:xfrm>
            <a:off x="2078024" y="6302648"/>
            <a:ext cx="1255776" cy="3062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9DB0F1F-E5B1-0AA9-CF10-03E9FA032AED}"/>
              </a:ext>
            </a:extLst>
          </p:cNvPr>
          <p:cNvSpPr/>
          <p:nvPr/>
        </p:nvSpPr>
        <p:spPr>
          <a:xfrm>
            <a:off x="3524202" y="6301161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Human, mouse, rat, hamster, other (with freeform box if other)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E7D53C-5E66-82C4-7D83-CD281B19141E}"/>
              </a:ext>
            </a:extLst>
          </p:cNvPr>
          <p:cNvSpPr txBox="1"/>
          <p:nvPr/>
        </p:nvSpPr>
        <p:spPr>
          <a:xfrm>
            <a:off x="528387" y="7373455"/>
            <a:ext cx="1650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Project description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F8EE1A-B1AC-3495-CA1F-30ADA5E9433F}"/>
              </a:ext>
            </a:extLst>
          </p:cNvPr>
          <p:cNvSpPr/>
          <p:nvPr/>
        </p:nvSpPr>
        <p:spPr>
          <a:xfrm>
            <a:off x="2069963" y="7374942"/>
            <a:ext cx="1255776" cy="3062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Paragraph box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00CD8D-374A-9994-C3EA-AF22179180F0}"/>
              </a:ext>
            </a:extLst>
          </p:cNvPr>
          <p:cNvSpPr txBox="1"/>
          <p:nvPr/>
        </p:nvSpPr>
        <p:spPr>
          <a:xfrm>
            <a:off x="528388" y="6759895"/>
            <a:ext cx="1549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Targeted read depth per sample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8E27B8F-6A7E-9C41-49D7-4A9D994D030C}"/>
              </a:ext>
            </a:extLst>
          </p:cNvPr>
          <p:cNvSpPr/>
          <p:nvPr/>
        </p:nvSpPr>
        <p:spPr>
          <a:xfrm>
            <a:off x="3524202" y="6841227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Integer &gt;1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2AC11C-7AA2-E794-EAF3-083741A139C1}"/>
              </a:ext>
            </a:extLst>
          </p:cNvPr>
          <p:cNvSpPr/>
          <p:nvPr/>
        </p:nvSpPr>
        <p:spPr>
          <a:xfrm>
            <a:off x="2069963" y="6841227"/>
            <a:ext cx="125577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Number scroll?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32EE3E-74A8-12AD-B481-C70D9C7B214E}"/>
              </a:ext>
            </a:extLst>
          </p:cNvPr>
          <p:cNvSpPr txBox="1"/>
          <p:nvPr/>
        </p:nvSpPr>
        <p:spPr>
          <a:xfrm>
            <a:off x="536448" y="2508043"/>
            <a:ext cx="1434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Submitter name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A348C3-8FC3-0D80-1B96-22C7CC70D479}"/>
              </a:ext>
            </a:extLst>
          </p:cNvPr>
          <p:cNvSpPr/>
          <p:nvPr/>
        </p:nvSpPr>
        <p:spPr>
          <a:xfrm>
            <a:off x="2087642" y="2508043"/>
            <a:ext cx="125577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C80436-BE7E-8CC7-E951-58E35EB65151}"/>
              </a:ext>
            </a:extLst>
          </p:cNvPr>
          <p:cNvSpPr txBox="1"/>
          <p:nvPr/>
        </p:nvSpPr>
        <p:spPr>
          <a:xfrm>
            <a:off x="536448" y="2987543"/>
            <a:ext cx="1424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Submitter email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5ADE76-E865-093F-5B21-26D5B701F598}"/>
              </a:ext>
            </a:extLst>
          </p:cNvPr>
          <p:cNvSpPr/>
          <p:nvPr/>
        </p:nvSpPr>
        <p:spPr>
          <a:xfrm>
            <a:off x="2087642" y="2987543"/>
            <a:ext cx="125577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Freeform box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D682559-7482-F5E3-BB85-00354D944CC2}"/>
              </a:ext>
            </a:extLst>
          </p:cNvPr>
          <p:cNvSpPr/>
          <p:nvPr/>
        </p:nvSpPr>
        <p:spPr>
          <a:xfrm>
            <a:off x="3535680" y="2973718"/>
            <a:ext cx="3023616" cy="307777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Email format</a:t>
            </a:r>
          </a:p>
        </p:txBody>
      </p:sp>
    </p:spTree>
    <p:extLst>
      <p:ext uri="{BB962C8B-B14F-4D97-AF65-F5344CB8AC3E}">
        <p14:creationId xmlns:p14="http://schemas.microsoft.com/office/powerpoint/2010/main" val="2576128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01D334-575C-930E-BE46-929DA316CCDF}"/>
              </a:ext>
            </a:extLst>
          </p:cNvPr>
          <p:cNvSpPr txBox="1"/>
          <p:nvPr/>
        </p:nvSpPr>
        <p:spPr>
          <a:xfrm>
            <a:off x="451104" y="341376"/>
            <a:ext cx="206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Project info stage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C827E-FA99-6F70-047C-CB15591E051A}"/>
              </a:ext>
            </a:extLst>
          </p:cNvPr>
          <p:cNvSpPr txBox="1"/>
          <p:nvPr/>
        </p:nvSpPr>
        <p:spPr>
          <a:xfrm>
            <a:off x="753031" y="1866686"/>
            <a:ext cx="24309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PCA colour</a:t>
            </a:r>
          </a:p>
          <a:p>
            <a:r>
              <a:rPr lang="en-CA" dirty="0"/>
              <a:t>PCA shape</a:t>
            </a:r>
          </a:p>
          <a:p>
            <a:r>
              <a:rPr lang="en-CA" dirty="0"/>
              <a:t>PCA alpha</a:t>
            </a:r>
          </a:p>
          <a:p>
            <a:r>
              <a:rPr lang="en-CA" dirty="0"/>
              <a:t>Clustering groups</a:t>
            </a:r>
          </a:p>
          <a:p>
            <a:r>
              <a:rPr lang="en-CA" dirty="0"/>
              <a:t>Batch</a:t>
            </a:r>
          </a:p>
          <a:p>
            <a:r>
              <a:rPr lang="en-CA" dirty="0"/>
              <a:t>Report faceting groups</a:t>
            </a:r>
          </a:p>
          <a:p>
            <a:r>
              <a:rPr lang="en-CA" dirty="0"/>
              <a:t>Treatment level 1</a:t>
            </a:r>
          </a:p>
          <a:p>
            <a:r>
              <a:rPr lang="en-CA" dirty="0"/>
              <a:t>Treatment level 2</a:t>
            </a:r>
          </a:p>
          <a:p>
            <a:r>
              <a:rPr lang="en-CA" dirty="0"/>
              <a:t>Treatment level 3</a:t>
            </a:r>
          </a:p>
          <a:p>
            <a:r>
              <a:rPr lang="en-CA" dirty="0"/>
              <a:t>Treatment level 4</a:t>
            </a:r>
          </a:p>
          <a:p>
            <a:r>
              <a:rPr lang="en-CA" dirty="0"/>
              <a:t>Treatment level 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E5E980-A226-88AB-BD20-AFC67C819D2D}"/>
              </a:ext>
            </a:extLst>
          </p:cNvPr>
          <p:cNvSpPr/>
          <p:nvPr/>
        </p:nvSpPr>
        <p:spPr>
          <a:xfrm>
            <a:off x="576619" y="917804"/>
            <a:ext cx="5704762" cy="625245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</a:rPr>
              <a:t>User selects columns from metadata for each of these parameters.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</a:rPr>
              <a:t>All of these should be optional except treatment level 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232979-796E-2984-1E3D-A54E5260BB17}"/>
              </a:ext>
            </a:extLst>
          </p:cNvPr>
          <p:cNvSpPr/>
          <p:nvPr/>
        </p:nvSpPr>
        <p:spPr>
          <a:xfrm>
            <a:off x="3183953" y="1955540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723CE-3976-6FE7-5649-F69C5DCB8E82}"/>
              </a:ext>
            </a:extLst>
          </p:cNvPr>
          <p:cNvSpPr/>
          <p:nvPr/>
        </p:nvSpPr>
        <p:spPr>
          <a:xfrm>
            <a:off x="3183953" y="2230994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E83ED-BD65-76B1-B6CA-0B902B76B581}"/>
              </a:ext>
            </a:extLst>
          </p:cNvPr>
          <p:cNvSpPr/>
          <p:nvPr/>
        </p:nvSpPr>
        <p:spPr>
          <a:xfrm>
            <a:off x="3183953" y="2506448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84C934-360F-8A7E-8329-DF2F3F311648}"/>
              </a:ext>
            </a:extLst>
          </p:cNvPr>
          <p:cNvSpPr/>
          <p:nvPr/>
        </p:nvSpPr>
        <p:spPr>
          <a:xfrm>
            <a:off x="3183953" y="2781902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AF3D05-8611-5E29-D884-E3286B2D02F7}"/>
              </a:ext>
            </a:extLst>
          </p:cNvPr>
          <p:cNvSpPr/>
          <p:nvPr/>
        </p:nvSpPr>
        <p:spPr>
          <a:xfrm>
            <a:off x="3183953" y="3057356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EEFBB5-7D33-0068-9143-F6D6312B40A6}"/>
              </a:ext>
            </a:extLst>
          </p:cNvPr>
          <p:cNvSpPr/>
          <p:nvPr/>
        </p:nvSpPr>
        <p:spPr>
          <a:xfrm>
            <a:off x="3183953" y="3332810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50789-01DB-EF03-193B-21A7AD624891}"/>
              </a:ext>
            </a:extLst>
          </p:cNvPr>
          <p:cNvSpPr/>
          <p:nvPr/>
        </p:nvSpPr>
        <p:spPr>
          <a:xfrm>
            <a:off x="3183953" y="3608264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9FE1F3-3A6A-49A2-2BF5-89FAFF373552}"/>
              </a:ext>
            </a:extLst>
          </p:cNvPr>
          <p:cNvSpPr/>
          <p:nvPr/>
        </p:nvSpPr>
        <p:spPr>
          <a:xfrm>
            <a:off x="3183953" y="3883718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BBEA4C-A89A-54D7-692F-A1F53620CDB7}"/>
              </a:ext>
            </a:extLst>
          </p:cNvPr>
          <p:cNvSpPr/>
          <p:nvPr/>
        </p:nvSpPr>
        <p:spPr>
          <a:xfrm>
            <a:off x="3183953" y="4159172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21AEA8-771B-101D-B9AD-75C1E3B88837}"/>
              </a:ext>
            </a:extLst>
          </p:cNvPr>
          <p:cNvSpPr/>
          <p:nvPr/>
        </p:nvSpPr>
        <p:spPr>
          <a:xfrm>
            <a:off x="3183953" y="4434626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F2B6F7-A7D6-D8BC-6AB0-6510D47D570F}"/>
              </a:ext>
            </a:extLst>
          </p:cNvPr>
          <p:cNvSpPr/>
          <p:nvPr/>
        </p:nvSpPr>
        <p:spPr>
          <a:xfrm>
            <a:off x="3183953" y="4710078"/>
            <a:ext cx="1255776" cy="2056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200" dirty="0"/>
              <a:t>Dropdown</a:t>
            </a:r>
          </a:p>
        </p:txBody>
      </p:sp>
    </p:spTree>
    <p:extLst>
      <p:ext uri="{BB962C8B-B14F-4D97-AF65-F5344CB8AC3E}">
        <p14:creationId xmlns:p14="http://schemas.microsoft.com/office/powerpoint/2010/main" val="2427120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2A2ECA-DB6C-C719-7272-E970900EB006}"/>
              </a:ext>
            </a:extLst>
          </p:cNvPr>
          <p:cNvSpPr txBox="1"/>
          <p:nvPr/>
        </p:nvSpPr>
        <p:spPr>
          <a:xfrm>
            <a:off x="451104" y="341376"/>
            <a:ext cx="585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Server action 3: manipulate metadata, produce outputs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80FE-6FF5-4FAB-F453-9BDA128BD226}"/>
              </a:ext>
            </a:extLst>
          </p:cNvPr>
          <p:cNvSpPr txBox="1"/>
          <p:nvPr/>
        </p:nvSpPr>
        <p:spPr>
          <a:xfrm>
            <a:off x="569883" y="959965"/>
            <a:ext cx="321581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/>
              <a:t>Make + export Illumina </a:t>
            </a:r>
            <a:r>
              <a:rPr lang="en-CA" sz="1400" b="1" dirty="0" err="1"/>
              <a:t>SampleSheet</a:t>
            </a:r>
            <a:r>
              <a:rPr lang="en-CA" sz="14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 err="1"/>
              <a:t>sampleID</a:t>
            </a:r>
            <a:endParaRPr lang="en-CA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I7_Index_ID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I7_Index_seq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I5_Index_ID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/>
              <a:t>I5_Index_seq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sz="1400" dirty="0" err="1"/>
              <a:t>Project_ID</a:t>
            </a:r>
            <a:br>
              <a:rPr lang="en-CA" sz="1400" dirty="0"/>
            </a:br>
            <a:endParaRPr lang="en-CA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770F2F-A073-92AA-63DB-BEDA9ED2107B}"/>
              </a:ext>
            </a:extLst>
          </p:cNvPr>
          <p:cNvSpPr/>
          <p:nvPr/>
        </p:nvSpPr>
        <p:spPr>
          <a:xfrm>
            <a:off x="1972988" y="2281697"/>
            <a:ext cx="3169920" cy="18527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Same contents for each sample for this column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5E6CBC-B65F-EB4A-40BD-3480C5A7B46B}"/>
              </a:ext>
            </a:extLst>
          </p:cNvPr>
          <p:cNvSpPr/>
          <p:nvPr/>
        </p:nvSpPr>
        <p:spPr>
          <a:xfrm>
            <a:off x="3213070" y="1230873"/>
            <a:ext cx="3169920" cy="617464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00" dirty="0">
                <a:solidFill>
                  <a:schemeClr val="tx1"/>
                </a:solidFill>
              </a:rPr>
              <a:t>Do we try to make the whole </a:t>
            </a:r>
            <a:r>
              <a:rPr lang="en-CA" sz="1000" dirty="0" err="1">
                <a:solidFill>
                  <a:schemeClr val="tx1"/>
                </a:solidFill>
              </a:rPr>
              <a:t>SampleSheet</a:t>
            </a:r>
            <a:r>
              <a:rPr lang="en-CA" sz="1000" dirty="0">
                <a:solidFill>
                  <a:schemeClr val="tx1"/>
                </a:solidFill>
              </a:rPr>
              <a:t> including header? Or just give them the part to copy and paste into the [Data] section?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9E4A03-E55F-4729-D059-5C63D970DD02}"/>
              </a:ext>
            </a:extLst>
          </p:cNvPr>
          <p:cNvSpPr txBox="1"/>
          <p:nvPr/>
        </p:nvSpPr>
        <p:spPr>
          <a:xfrm>
            <a:off x="569883" y="3386942"/>
            <a:ext cx="52863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/>
              <a:t>Make + export Analysis metadata sheet</a:t>
            </a:r>
          </a:p>
          <a:p>
            <a:r>
              <a:rPr lang="en-CA" sz="1400" dirty="0"/>
              <a:t>Create a “group” column concatenating treatment variables</a:t>
            </a:r>
          </a:p>
          <a:p>
            <a:r>
              <a:rPr lang="en-CA" sz="1400" dirty="0"/>
              <a:t>- Will be used for contrasts</a:t>
            </a:r>
          </a:p>
          <a:p>
            <a:r>
              <a:rPr lang="en-CA" sz="1400" dirty="0"/>
              <a:t> - Relies on what columns user put as Treatment level 1 etc.</a:t>
            </a:r>
          </a:p>
          <a:p>
            <a:r>
              <a:rPr lang="en-CA" sz="1400" dirty="0"/>
              <a:t>Ex. </a:t>
            </a:r>
            <a:r>
              <a:rPr lang="en-CA" sz="1400" dirty="0" err="1"/>
              <a:t>concat</a:t>
            </a:r>
            <a:r>
              <a:rPr lang="en-CA" sz="1400" dirty="0"/>
              <a:t> chemical + dose</a:t>
            </a:r>
          </a:p>
          <a:p>
            <a:r>
              <a:rPr lang="en-CA" sz="1400" dirty="0"/>
              <a:t>- Or maybe we need to make group1, group2, group3 </a:t>
            </a:r>
            <a:r>
              <a:rPr lang="en-CA" sz="1400" dirty="0" err="1"/>
              <a:t>etc</a:t>
            </a:r>
            <a:r>
              <a:rPr lang="en-CA" sz="1400" dirty="0"/>
              <a:t> with all combinations of treatment variables? This gets complicated.</a:t>
            </a:r>
          </a:p>
          <a:p>
            <a:endParaRPr lang="en-CA" sz="1400" dirty="0"/>
          </a:p>
          <a:p>
            <a:r>
              <a:rPr lang="en-CA" sz="1400" dirty="0"/>
              <a:t>Someday goal: get all the unique values of the group column, sort them into reference RNA or not, and let users drag/drop into slots to set up </a:t>
            </a:r>
            <a:r>
              <a:rPr lang="en-CA" sz="1400" dirty="0" err="1"/>
              <a:t>contrats</a:t>
            </a:r>
            <a:r>
              <a:rPr lang="en-CA" sz="1400" dirty="0"/>
              <a:t>. But that’s complicated and not necessary right now.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08AA88-5881-E20F-E18A-10A81BFFE1E4}"/>
              </a:ext>
            </a:extLst>
          </p:cNvPr>
          <p:cNvSpPr txBox="1"/>
          <p:nvPr/>
        </p:nvSpPr>
        <p:spPr>
          <a:xfrm>
            <a:off x="569883" y="6214809"/>
            <a:ext cx="5286375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b="1" dirty="0"/>
              <a:t>Make + export config </a:t>
            </a:r>
            <a:r>
              <a:rPr lang="en-CA" sz="1400" b="1" err="1"/>
              <a:t>yaml</a:t>
            </a:r>
            <a:r>
              <a:rPr lang="en-CA" sz="1400" b="1" dirty="0"/>
              <a:t> file </a:t>
            </a:r>
            <a:r>
              <a:rPr lang="en-CA" sz="1400" b="1" dirty="0">
                <a:solidFill>
                  <a:srgbClr val="FF0000"/>
                </a:solidFill>
              </a:rPr>
              <a:t>– CSV is also fine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CA" sz="1400" dirty="0"/>
              <a:t>Format all the filled-in project info into </a:t>
            </a:r>
            <a:r>
              <a:rPr lang="en-CA" sz="1400" dirty="0" err="1"/>
              <a:t>yaml</a:t>
            </a:r>
            <a:r>
              <a:rPr lang="en-CA" sz="1400" dirty="0"/>
              <a:t>, export (send to bioinformaticians).</a:t>
            </a:r>
          </a:p>
          <a:p>
            <a:r>
              <a:rPr lang="en-CA" sz="1400" dirty="0"/>
              <a:t>We’ll have to have a config template set up for this, because there’s still things only the bioinformatician will set up (ref. file locations, stuff like that). The config template I have right now is not set up I the same order as this exported </a:t>
            </a:r>
            <a:r>
              <a:rPr lang="en-CA" sz="1400" dirty="0" err="1"/>
              <a:t>yaml</a:t>
            </a:r>
            <a:r>
              <a:rPr lang="en-CA" sz="1400" dirty="0"/>
              <a:t> will be…</a:t>
            </a:r>
          </a:p>
        </p:txBody>
      </p:sp>
    </p:spTree>
    <p:extLst>
      <p:ext uri="{BB962C8B-B14F-4D97-AF65-F5344CB8AC3E}">
        <p14:creationId xmlns:p14="http://schemas.microsoft.com/office/powerpoint/2010/main" val="403662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4A218-CD99-D607-AD7F-B085667F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D3CC1B-50CD-6050-ED1D-C4B4AC2E4578}"/>
              </a:ext>
            </a:extLst>
          </p:cNvPr>
          <p:cNvSpPr txBox="1"/>
          <p:nvPr/>
        </p:nvSpPr>
        <p:spPr>
          <a:xfrm>
            <a:off x="451104" y="284595"/>
            <a:ext cx="568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Server action 3: manipulate metadata, produce outputs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47E17-582E-4C51-DE6A-ED15FFBEBB48}"/>
              </a:ext>
            </a:extLst>
          </p:cNvPr>
          <p:cNvSpPr txBox="1"/>
          <p:nvPr/>
        </p:nvSpPr>
        <p:spPr>
          <a:xfrm>
            <a:off x="525860" y="653927"/>
            <a:ext cx="2212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Make GEO metadata table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A28F37-FB04-E594-0F21-7A44EC7E4341}"/>
              </a:ext>
            </a:extLst>
          </p:cNvPr>
          <p:cNvSpPr/>
          <p:nvPr/>
        </p:nvSpPr>
        <p:spPr>
          <a:xfrm>
            <a:off x="2738197" y="698168"/>
            <a:ext cx="3169920" cy="217369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050" dirty="0">
                <a:solidFill>
                  <a:schemeClr val="tx1"/>
                </a:solidFill>
              </a:rPr>
              <a:t>Only of samples with </a:t>
            </a:r>
            <a:r>
              <a:rPr lang="en-CA" sz="1050" dirty="0" err="1">
                <a:solidFill>
                  <a:schemeClr val="tx1"/>
                </a:solidFill>
              </a:rPr>
              <a:t>include_in_analyses</a:t>
            </a:r>
            <a:r>
              <a:rPr lang="en-CA" sz="1050" dirty="0">
                <a:solidFill>
                  <a:schemeClr val="tx1"/>
                </a:solidFill>
              </a:rPr>
              <a:t> == T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EF36E91-3815-8729-4353-3E1FE28DF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743469"/>
              </p:ext>
            </p:extLst>
          </p:nvPr>
        </p:nvGraphicFramePr>
        <p:xfrm>
          <a:off x="576492" y="968788"/>
          <a:ext cx="5705016" cy="797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5938">
                  <a:extLst>
                    <a:ext uri="{9D8B030D-6E8A-4147-A177-3AD203B41FA5}">
                      <a16:colId xmlns:a16="http://schemas.microsoft.com/office/drawing/2014/main" val="1164360842"/>
                    </a:ext>
                  </a:extLst>
                </a:gridCol>
                <a:gridCol w="2167406">
                  <a:extLst>
                    <a:ext uri="{9D8B030D-6E8A-4147-A177-3AD203B41FA5}">
                      <a16:colId xmlns:a16="http://schemas.microsoft.com/office/drawing/2014/main" val="672616411"/>
                    </a:ext>
                  </a:extLst>
                </a:gridCol>
                <a:gridCol w="1901672">
                  <a:extLst>
                    <a:ext uri="{9D8B030D-6E8A-4147-A177-3AD203B41FA5}">
                      <a16:colId xmlns:a16="http://schemas.microsoft.com/office/drawing/2014/main" val="3991954707"/>
                    </a:ext>
                  </a:extLst>
                </a:gridCol>
              </a:tblGrid>
              <a:tr h="431972">
                <a:tc>
                  <a:txBody>
                    <a:bodyPr/>
                    <a:lstStyle/>
                    <a:p>
                      <a:r>
                        <a:rPr lang="en-CA" sz="1200" dirty="0"/>
                        <a:t>GEO 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Metadata column name or project info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715612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r>
                        <a:rPr lang="en-CA" sz="1200" dirty="0"/>
                        <a:t>*library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Metadata: </a:t>
                      </a:r>
                      <a:r>
                        <a:rPr lang="en-CA" sz="1200" dirty="0" err="1"/>
                        <a:t>sampleID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440830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r>
                        <a:rPr lang="en-CA" sz="1200" dirty="0"/>
                        <a:t>*title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leave blank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957667"/>
                  </a:ext>
                </a:extLst>
              </a:tr>
              <a:tr h="431972">
                <a:tc>
                  <a:txBody>
                    <a:bodyPr/>
                    <a:lstStyle/>
                    <a:p>
                      <a:r>
                        <a:rPr lang="en-CA" sz="1200" dirty="0"/>
                        <a:t>*</a:t>
                      </a:r>
                      <a:r>
                        <a:rPr lang="en-CA" sz="1200" dirty="0" err="1"/>
                        <a:t>library_strategy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Project info: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>
                          <a:solidFill>
                            <a:schemeClr val="tx1"/>
                          </a:solidFill>
                        </a:rPr>
                        <a:t>If RNA-seq, “RNA-seq”; if </a:t>
                      </a:r>
                      <a:r>
                        <a:rPr lang="en-CA" sz="1200" dirty="0" err="1">
                          <a:solidFill>
                            <a:schemeClr val="tx1"/>
                          </a:solidFill>
                        </a:rPr>
                        <a:t>TempO</a:t>
                      </a:r>
                      <a:r>
                        <a:rPr lang="en-CA" sz="1200" dirty="0">
                          <a:solidFill>
                            <a:schemeClr val="tx1"/>
                          </a:solidFill>
                        </a:rPr>
                        <a:t>-Seq, “Other”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824137"/>
                  </a:ext>
                </a:extLst>
              </a:tr>
              <a:tr h="604761">
                <a:tc>
                  <a:txBody>
                    <a:bodyPr/>
                    <a:lstStyle/>
                    <a:p>
                      <a:r>
                        <a:rPr lang="en-CA" sz="1200" dirty="0"/>
                        <a:t>*organism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Project info: 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Will need a conditional to turn common names into scientific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924422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r>
                        <a:rPr lang="en-CA" sz="1200" dirty="0"/>
                        <a:t>**tissue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511634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r>
                        <a:rPr lang="en-CA" sz="1200" dirty="0"/>
                        <a:t>**cell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 err="1"/>
                        <a:t>cell_line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591883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r>
                        <a:rPr lang="en-CA" sz="1200" dirty="0"/>
                        <a:t>**cell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 err="1"/>
                        <a:t>cell_type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567555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r>
                        <a:rPr lang="en-CA" sz="1200" dirty="0"/>
                        <a:t>[treatment 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123451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[treatment 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498994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[treatment </a:t>
                      </a:r>
                      <a:r>
                        <a:rPr lang="en-CA" sz="1200" dirty="0" err="1"/>
                        <a:t>etc</a:t>
                      </a:r>
                      <a:r>
                        <a:rPr lang="en-CA" sz="1200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623507"/>
                  </a:ext>
                </a:extLst>
              </a:tr>
              <a:tr h="259183">
                <a:tc>
                  <a:txBody>
                    <a:bodyPr/>
                    <a:lstStyle/>
                    <a:p>
                      <a:r>
                        <a:rPr lang="en-CA" sz="1200" dirty="0"/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metadata: 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091805"/>
                  </a:ext>
                </a:extLst>
              </a:tr>
              <a:tr h="503246">
                <a:tc>
                  <a:txBody>
                    <a:bodyPr/>
                    <a:lstStyle/>
                    <a:p>
                      <a:r>
                        <a:rPr lang="en-CA" sz="1200" dirty="0"/>
                        <a:t>*molecule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Project info: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>
                          <a:solidFill>
                            <a:schemeClr val="tx1"/>
                          </a:solidFill>
                        </a:rPr>
                        <a:t>If RNA-seq, “total RNA”; if </a:t>
                      </a:r>
                      <a:r>
                        <a:rPr lang="en-CA" sz="1200" dirty="0" err="1">
                          <a:solidFill>
                            <a:schemeClr val="tx1"/>
                          </a:solidFill>
                        </a:rPr>
                        <a:t>TempO</a:t>
                      </a:r>
                      <a:r>
                        <a:rPr lang="en-CA" sz="1200" dirty="0">
                          <a:solidFill>
                            <a:schemeClr val="tx1"/>
                          </a:solidFill>
                        </a:rPr>
                        <a:t>-Seq, “other”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719714"/>
                  </a:ext>
                </a:extLst>
              </a:tr>
              <a:tr h="471305">
                <a:tc>
                  <a:txBody>
                    <a:bodyPr/>
                    <a:lstStyle/>
                    <a:p>
                      <a:r>
                        <a:rPr lang="en-CA" sz="1200" b="0" dirty="0"/>
                        <a:t>*single or paired-end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/>
                        <a:t>Project info: sequence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409457"/>
                  </a:ext>
                </a:extLst>
              </a:tr>
              <a:tr h="431972">
                <a:tc>
                  <a:txBody>
                    <a:bodyPr/>
                    <a:lstStyle/>
                    <a:p>
                      <a:r>
                        <a:rPr lang="en-CA" sz="1200" b="0" dirty="0"/>
                        <a:t>*instrument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Project info: Instrument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113798"/>
                  </a:ext>
                </a:extLst>
              </a:tr>
              <a:tr h="359462">
                <a:tc>
                  <a:txBody>
                    <a:bodyPr/>
                    <a:lstStyle/>
                    <a:p>
                      <a:r>
                        <a:rPr lang="en-CA" sz="1200" b="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leave blank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68545"/>
                  </a:ext>
                </a:extLst>
              </a:tr>
              <a:tr h="359462">
                <a:tc>
                  <a:txBody>
                    <a:bodyPr/>
                    <a:lstStyle/>
                    <a:p>
                      <a:r>
                        <a:rPr lang="en-CA" sz="1200" b="0" dirty="0"/>
                        <a:t>processed data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leave blank</a:t>
                      </a:r>
                      <a:endParaRPr kumimoji="0" lang="en-CA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732306"/>
                  </a:ext>
                </a:extLst>
              </a:tr>
              <a:tr h="359462">
                <a:tc>
                  <a:txBody>
                    <a:bodyPr/>
                    <a:lstStyle/>
                    <a:p>
                      <a:r>
                        <a:rPr lang="en-CA" sz="1200" b="0" dirty="0"/>
                        <a:t>processed data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leave blank</a:t>
                      </a:r>
                      <a:endParaRPr kumimoji="0" lang="en-CA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670831"/>
                  </a:ext>
                </a:extLst>
              </a:tr>
              <a:tr h="359462">
                <a:tc>
                  <a:txBody>
                    <a:bodyPr/>
                    <a:lstStyle/>
                    <a:p>
                      <a:r>
                        <a:rPr lang="en-CA" sz="1200" b="0" dirty="0"/>
                        <a:t>*raw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leave blank</a:t>
                      </a:r>
                      <a:endParaRPr kumimoji="0" lang="en-CA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580019"/>
                  </a:ext>
                </a:extLst>
              </a:tr>
              <a:tr h="359462">
                <a:tc>
                  <a:txBody>
                    <a:bodyPr/>
                    <a:lstStyle/>
                    <a:p>
                      <a:r>
                        <a:rPr lang="en-CA" sz="1200" b="0" dirty="0"/>
                        <a:t>raw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leave blank</a:t>
                      </a:r>
                      <a:endParaRPr kumimoji="0" lang="en-CA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970542"/>
                  </a:ext>
                </a:extLst>
              </a:tr>
              <a:tr h="359462">
                <a:tc>
                  <a:txBody>
                    <a:bodyPr/>
                    <a:lstStyle/>
                    <a:p>
                      <a:r>
                        <a:rPr lang="en-CA" sz="1200" b="0" dirty="0"/>
                        <a:t>raw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leave blank</a:t>
                      </a:r>
                      <a:endParaRPr kumimoji="0" lang="en-CA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91104"/>
                  </a:ext>
                </a:extLst>
              </a:tr>
              <a:tr h="359462">
                <a:tc>
                  <a:txBody>
                    <a:bodyPr/>
                    <a:lstStyle/>
                    <a:p>
                      <a:r>
                        <a:rPr lang="en-CA" sz="1200" b="0" dirty="0"/>
                        <a:t>raw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leave blank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906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255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284AABCA0AD3438948330854908A41" ma:contentTypeVersion="16" ma:contentTypeDescription="Create a new document." ma:contentTypeScope="" ma:versionID="e760ad0db3b3edc99957934f0984ef4b">
  <xsd:schema xmlns:xsd="http://www.w3.org/2001/XMLSchema" xmlns:xs="http://www.w3.org/2001/XMLSchema" xmlns:p="http://schemas.microsoft.com/office/2006/metadata/properties" xmlns:ns1="http://schemas.microsoft.com/sharepoint/v3" xmlns:ns2="7103d4f6-ee92-414b-a650-3e3b4090863e" xmlns:ns3="cc32d92f-7736-4923-8cdf-168cc5809e71" targetNamespace="http://schemas.microsoft.com/office/2006/metadata/properties" ma:root="true" ma:fieldsID="6939000f449f0e7a6e4452520b865535" ns1:_="" ns2:_="" ns3:_="">
    <xsd:import namespace="http://schemas.microsoft.com/sharepoint/v3"/>
    <xsd:import namespace="7103d4f6-ee92-414b-a650-3e3b4090863e"/>
    <xsd:import namespace="cc32d92f-7736-4923-8cdf-168cc5809e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3d4f6-ee92-414b-a650-3e3b40908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6ddb0ec-cae1-4b94-bdc6-d5be94c720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32d92f-7736-4923-8cdf-168cc5809e7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f0ac968-6d85-4fc4-a220-fe35be033fee}" ma:internalName="TaxCatchAll" ma:showField="CatchAllData" ma:web="cc32d92f-7736-4923-8cdf-168cc5809e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03d4f6-ee92-414b-a650-3e3b4090863e">
      <Terms xmlns="http://schemas.microsoft.com/office/infopath/2007/PartnerControls"/>
    </lcf76f155ced4ddcb4097134ff3c332f>
    <TaxCatchAll xmlns="cc32d92f-7736-4923-8cdf-168cc5809e71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14D904A-61D9-460F-ABEF-58DC7FF957AD}"/>
</file>

<file path=customXml/itemProps2.xml><?xml version="1.0" encoding="utf-8"?>
<ds:datastoreItem xmlns:ds="http://schemas.openxmlformats.org/officeDocument/2006/customXml" ds:itemID="{E1847D30-8CEC-4BFE-A3F7-23EE859B82BA}"/>
</file>

<file path=customXml/itemProps3.xml><?xml version="1.0" encoding="utf-8"?>
<ds:datastoreItem xmlns:ds="http://schemas.openxmlformats.org/officeDocument/2006/customXml" ds:itemID="{92E172F6-78F9-44F4-967F-3E2F076119F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3205</TotalTime>
  <Words>1296</Words>
  <Application>Microsoft Office PowerPoint</Application>
  <PresentationFormat>Letter Paper (8.5x11 in)</PresentationFormat>
  <Paragraphs>273</Paragraphs>
  <Slides>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HC-PHAC - SC-ASPC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Bradford, Lauren (HC/SC)</dc:creator>
  <cp:lastModifiedBy>Bradford, Lauren (HC/SC)</cp:lastModifiedBy>
  <cp:revision>25</cp:revision>
  <dcterms:created xsi:type="dcterms:W3CDTF">2025-08-11T18:19:49Z</dcterms:created>
  <dcterms:modified xsi:type="dcterms:W3CDTF">2025-09-26T19:26:10Z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5d8ed60-cd71-485b-a85b-277aaf32f506_Enabled">
    <vt:lpwstr>true</vt:lpwstr>
  </property>
  <property fmtid="{D5CDD505-2E9C-101B-9397-08002B2CF9AE}" pid="3" name="MSIP_Label_05d8ed60-cd71-485b-a85b-277aaf32f506_SetDate">
    <vt:lpwstr>2025-08-11T20:36:07Z</vt:lpwstr>
  </property>
  <property fmtid="{D5CDD505-2E9C-101B-9397-08002B2CF9AE}" pid="4" name="MSIP_Label_05d8ed60-cd71-485b-a85b-277aaf32f506_Method">
    <vt:lpwstr>Standard</vt:lpwstr>
  </property>
  <property fmtid="{D5CDD505-2E9C-101B-9397-08002B2CF9AE}" pid="5" name="MSIP_Label_05d8ed60-cd71-485b-a85b-277aaf32f506_Name">
    <vt:lpwstr>Unclassified</vt:lpwstr>
  </property>
  <property fmtid="{D5CDD505-2E9C-101B-9397-08002B2CF9AE}" pid="6" name="MSIP_Label_05d8ed60-cd71-485b-a85b-277aaf32f506_SiteId">
    <vt:lpwstr>42fd9015-de4d-4223-a368-baeacab48927</vt:lpwstr>
  </property>
  <property fmtid="{D5CDD505-2E9C-101B-9397-08002B2CF9AE}" pid="7" name="MSIP_Label_05d8ed60-cd71-485b-a85b-277aaf32f506_ActionId">
    <vt:lpwstr>2bbc7f47-083b-4f77-8d7a-20ef35663719</vt:lpwstr>
  </property>
  <property fmtid="{D5CDD505-2E9C-101B-9397-08002B2CF9AE}" pid="8" name="MSIP_Label_05d8ed60-cd71-485b-a85b-277aaf32f506_ContentBits">
    <vt:lpwstr>1</vt:lpwstr>
  </property>
  <property fmtid="{D5CDD505-2E9C-101B-9397-08002B2CF9AE}" pid="9" name="MSIP_Label_05d8ed60-cd71-485b-a85b-277aaf32f506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Unclassified / Non classifié</vt:lpwstr>
  </property>
  <property fmtid="{D5CDD505-2E9C-101B-9397-08002B2CF9AE}" pid="12" name="ContentTypeId">
    <vt:lpwstr>0x010100AE284AABCA0AD3438948330854908A41</vt:lpwstr>
  </property>
</Properties>
</file>